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417320"/>
            <a:ext cx="777240" cy="77724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Sales Performance 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Business Intelligence Project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Python  ·  SQL  ·  Power BI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[Your Name]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period: 2015 – 2018  |  Superstore Sales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Diagnosing where a $2.3M retail business is losing profit — and exactly what to fix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Problem: 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national retail chain wants to understand where profit is being left on the table — which products, regions, states, and discount practices are helping vs. hurting the bottom line, and what specific actions would improve profitability without sacrificing revenue.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revenue, profit, and sales trends over a 4-year period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product &amp; category performance, including loss-making items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regional and state-level performance on margin, not just volume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 customers by value, frequency, and profitability (RFM, ABC, CLV)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 concrete, quantified, actionable business recommendations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Tools &amp; Skills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32918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364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Python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36758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Pandas, NumPy, Matplotlib, Seaborn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42062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2793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45902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— star schema, 40 business queries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51206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1937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55046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3-page dashboard, DAX time intelligence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Dashboard — End-to-End BI 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32720" y="6537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1 of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Dataset &amp; Sample Records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Superstore Sales Dataset — 9,994 order lines across 5,009 orders, 2015–2018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121408" cy="914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9,994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Lines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06624" y="1371600"/>
            <a:ext cx="2121408" cy="914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6624" y="1444752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5,009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06624" y="192024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Orders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56048" y="1371600"/>
            <a:ext cx="2121408" cy="914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444752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793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56048" y="192024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05472" y="1371600"/>
            <a:ext cx="2121408" cy="914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5472" y="1444752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1,850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05472" y="192024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454896" y="1371600"/>
            <a:ext cx="2121408" cy="914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54896" y="1444752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54896" y="192024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 (post-cleaning)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Sample records (cleaned dataset)</a:t>
            </a:r>
            <a:endParaRPr lang="en-US" sz="1300" dirty="0"/>
          </a:p>
        </p:txBody>
      </p:sp>
      <p:pic>
        <p:nvPicPr>
          <p:cNvPr id="20" name="Image 0" descr="/home/claude/final_delivery/assets/data_records_s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880360"/>
            <a:ext cx="11247120" cy="22402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Dashboard — End-to-End BI Project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332720" y="6537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2 of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Cleaning — Python Notebook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01_data_cleaning.py · modular, typed, logged, validated pipeline</a:t>
            </a:r>
            <a:endParaRPr lang="en-US" sz="1300" dirty="0"/>
          </a:p>
        </p:txBody>
      </p:sp>
      <p:pic>
        <p:nvPicPr>
          <p:cNvPr id="4" name="Image 0" descr="/home/claude/final_delivery/assets/code_notebook_clea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48056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13716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steps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Diagnosed a structural issue: 3 Excel sheets (Orders/People/Returns) merged into one export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9,994 genuine Orders rows from 806 unrelated rows using Row ID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Removed 504 full-row duplicates; validated business rules (Sales&gt;0, Discount 0–1, Ship≥Order date)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Flagged IQR-based outliers without deleting them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12 features: Profit Margin, Order Year/Month/Quarter/Weekday, Sales/Discount Tiers, Customer Type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assertions guard the pipeline's invariants before export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Dashboard — End-to-End BI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332720" y="6537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3 of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Exploratory Data Analysis — Python Notebook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02_eda.py · 20 charts, each with a printed Business Insight + Recommendation</a:t>
            </a:r>
            <a:endParaRPr lang="en-US" sz="1300" dirty="0"/>
          </a:p>
        </p:txBody>
      </p:sp>
      <p:pic>
        <p:nvPicPr>
          <p:cNvPr id="4" name="Image 0" descr="/home/claude/final_delivery/assets/code_notebook_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48056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13716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Coverage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visualizations: distributions, category/region/state breakdowns, discount analysis, shipping analysis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RFM segmentation, ABC (Pareto) analysis, and Customer Lifetime Value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chart is followed by a printed Insight + Recommendation pair — not just a plot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figures referenced in the business report trace back to this notebook's output</a:t>
            </a:r>
            <a:endParaRPr lang="en-US" sz="1200" dirty="0"/>
          </a:p>
        </p:txBody>
      </p:sp>
      <p:pic>
        <p:nvPicPr>
          <p:cNvPr id="7" name="Image 1" descr="/home/claude/final_delivery/code_package/images/20a_rfm_segmen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023360"/>
            <a:ext cx="2880360" cy="2011680"/>
          </a:xfrm>
          <a:prstGeom prst="rect">
            <a:avLst/>
          </a:prstGeom>
        </p:spPr>
      </p:pic>
      <p:pic>
        <p:nvPicPr>
          <p:cNvPr id="8" name="Image 2" descr="/home/claude/final_delivery/code_package/images/12_discount_analysi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023360"/>
            <a:ext cx="2880360" cy="20116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Dashboard — End-to-End BI Project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0332720" y="6537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4 of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Findings from EDA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profit is concentrated — and where it's leaking</a:t>
            </a:r>
            <a:endParaRPr lang="en-US" sz="1300" dirty="0"/>
          </a:p>
        </p:txBody>
      </p:sp>
      <p:pic>
        <p:nvPicPr>
          <p:cNvPr id="4" name="Image 0" descr="/home/claude/final_delivery/code_package/images/06_subcategory_pro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120640" cy="5120640"/>
          </a:xfrm>
          <a:prstGeom prst="rect">
            <a:avLst/>
          </a:prstGeom>
        </p:spPr>
      </p:pic>
      <p:pic>
        <p:nvPicPr>
          <p:cNvPr id="5" name="Image 1" descr="/home/claude/final_delivery/code_package/images/16_yearly_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852160" cy="35661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52160" y="5029200"/>
            <a:ext cx="5852160" cy="128016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035040" y="51206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 is the single highest-priority fix: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-8.6% margin on $206,966 of sales, a -$17,726 total loss. Company-wide margin actually improved slightly (2015→2018) — profit erosion is localized, not company-wide.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Dashboard — End-to-End BI Project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332720" y="6537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5 of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 — Star Schema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00_schema.sql · normalized star schema built from the flat CSV export</a:t>
            </a:r>
            <a:endParaRPr lang="en-US" sz="1300" dirty="0"/>
          </a:p>
        </p:txBody>
      </p:sp>
      <p:pic>
        <p:nvPicPr>
          <p:cNvPr id="4" name="Image 0" descr="/home/claude/final_delivery/assets/code_sql_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93776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1371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rationale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0"/>
            <a:ext cx="5760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fact table (fact_orders) + 3 dimension tables (customers, products, locations)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Deliberately normalized to demonstrate real relational design — not a cosmetic exercise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Indexes on customer_id, product_id, location_id, order_date for query performance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 all 40 SQL business queries and the Power BI DAX model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Dashboard — End-to-End BI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332720" y="6537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6 of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 — Business Queries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 queries: 30 core + 10 advanced window-function/segmentation queries</a:t>
            </a:r>
            <a:endParaRPr lang="en-US" sz="1300" dirty="0"/>
          </a:p>
        </p:txBody>
      </p:sp>
      <p:pic>
        <p:nvPicPr>
          <p:cNvPr id="4" name="Image 0" descr="/home/claude/final_delivery/assets/code_sql_qu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120640" cy="4425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1371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Techniques demonstrated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0"/>
            <a:ext cx="5760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/ WHERE / GROUP BY / HAVING / CASE / JOINs / CTEs / Subqueries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 functions: RANK, DENSE_RANK, ROW_NUMBER, LAG, LEAD, NTILE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totals, 3-month moving averages, rolling revenue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Pareto (Top-20%-of-customers) analysis — verified: top 20% drive 48.15% of revenue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Views for state- and month-level reporting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query verified by executing it against the live database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Dashboard — End-to-End BI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332720" y="6537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7 of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Dashboard — Page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Overview · KPIs, trend, category &amp; regional mix, top products/customers</a:t>
            </a:r>
            <a:endParaRPr lang="en-US" sz="1300" dirty="0"/>
          </a:p>
        </p:txBody>
      </p:sp>
      <p:pic>
        <p:nvPicPr>
          <p:cNvPr id="4" name="Image 0" descr="/home/claude/final_delivery/assets/dashboard_page1_executive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0814" y="1325880"/>
            <a:ext cx="8307324" cy="525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Dashboard — End-to-End BI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32720" y="6537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8 of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Dashboard — Page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&amp; Category Deep Dive · sub-category profit, discount-tier margin analysis</a:t>
            </a:r>
            <a:endParaRPr lang="en-US" sz="1300" dirty="0"/>
          </a:p>
        </p:txBody>
      </p:sp>
      <p:pic>
        <p:nvPicPr>
          <p:cNvPr id="4" name="Image 0" descr="/home/claude/final_delivery/assets/dashboard_page2_product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0814" y="1325880"/>
            <a:ext cx="8307324" cy="525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Dashboard — End-to-End BI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32720" y="6537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9 of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Dashboard — Page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&amp; Customer Performance · state margin, RFM, top-20 customer matrix</a:t>
            </a:r>
            <a:endParaRPr lang="en-US" sz="1300" dirty="0"/>
          </a:p>
        </p:txBody>
      </p:sp>
      <p:pic>
        <p:nvPicPr>
          <p:cNvPr id="4" name="Image 0" descr="/home/claude/final_delivery/assets/dashboard_page3_regional_custo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0814" y="1325880"/>
            <a:ext cx="8307324" cy="525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Dashboard — End-to-End BI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32720" y="6537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10 of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Business Insights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data-driven insights — 5 highlighted here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" cy="868680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17320"/>
            <a:ext cx="10881360" cy="86868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9047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Furniture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49047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32.3% of revenue, only 6.4% of profit (2.5% margin) — driven by excessive discounting on Tables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109728" cy="868680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404872"/>
            <a:ext cx="10881360" cy="86868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78024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Texas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478024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-$25,729 total profit despite $170K in sales — the single largest geographic loss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92424"/>
            <a:ext cx="109728" cy="8686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392424"/>
            <a:ext cx="10881360" cy="86868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65576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Discount threshold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465576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Margin collapses past ~20% discount: 29.5% → -77.4% at 40%+ discount tier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379976"/>
            <a:ext cx="109728" cy="86868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4379976"/>
            <a:ext cx="10881360" cy="86868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5312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West Region &amp; Technology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4453128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margin performers (14.9% and 17.4%) — highest-ROI targets for reinvestment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367528"/>
            <a:ext cx="109728" cy="86868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5367528"/>
            <a:ext cx="10881360" cy="86868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4406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Repeat Customers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5440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98.5% of customers are repeat buyers, driving 99.8% of revenue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Dashboard — End-to-End BI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32720" y="6537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11 of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targeted, low-risk actions to recover profit without sacrificing revenue growth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013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 Furniture discounts — especially Tables — at 20%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64261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targeted profitability review in Texas, Ohio, and Pennsylvania (~-$58K combined)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4838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 marketing &amp; inventory investment in Technology and the West region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3251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a retention program for the RFM "Champions" segment (24% of customers, ~40% of revenue)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48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5166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confirmed high-volume, negative-profit products through repricing/supplier renegotiation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Dashboard — End-to-End BI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32720" y="6537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12 of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project — code, SQL, dashboard guide, and reports — available on request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[Your Name]  ·  your.email@example.com  ·  linkedin.com/in/yourprofile  ·  github.com/yourusername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Dashboard — End-to-End BI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332720" y="6537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14 of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2026-08-07T03:51:36Z</dcterms:created>
  <dcterms:modified xsi:type="dcterms:W3CDTF">2026-08-07T03:51:36Z</dcterms:modified>
</cp:coreProperties>
</file>